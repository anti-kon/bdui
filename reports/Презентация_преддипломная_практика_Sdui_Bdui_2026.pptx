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f8df7ccbaa4c5f" /><Relationship Type="http://schemas.openxmlformats.org/officeDocument/2006/relationships/extended-properties" Target="/docProps/app.xml" Id="R82c22048c5f84d78" /><Relationship Type="http://schemas.openxmlformats.org/officeDocument/2006/relationships/officeDocument" Target="/ppt/presentation.xml" Id="R37a997f6d13f49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afc62ab694fd7"/>
  </p:sldMasterIdLst>
  <p:notesMasterIdLst>
    <p:notesMasterId xmlns:r="http://schemas.openxmlformats.org/officeDocument/2006/relationships" r:id="Rccec24e61fca41d7"/>
  </p:notesMasterIdLst>
  <p:sldIdLst>
    <p:sldId xmlns:r="http://schemas.openxmlformats.org/officeDocument/2006/relationships" id="256" r:id="Rd4ea84d944d24151"/>
    <p:sldId xmlns:r="http://schemas.openxmlformats.org/officeDocument/2006/relationships" id="257" r:id="R11ec9e388e4a48b2"/>
    <p:sldId xmlns:r="http://schemas.openxmlformats.org/officeDocument/2006/relationships" id="258" r:id="R2aa2cae05e4a4a28"/>
    <p:sldId xmlns:r="http://schemas.openxmlformats.org/officeDocument/2006/relationships" id="259" r:id="R9725d1daa8d04836"/>
    <p:sldId xmlns:r="http://schemas.openxmlformats.org/officeDocument/2006/relationships" id="260" r:id="Re81bf4e3cc57419c"/>
    <p:sldId xmlns:r="http://schemas.openxmlformats.org/officeDocument/2006/relationships" id="261" r:id="Ra9a571c8fe034f1a"/>
    <p:sldId xmlns:r="http://schemas.openxmlformats.org/officeDocument/2006/relationships" id="262" r:id="R83cafc76d8c3467e"/>
    <p:sldId xmlns:r="http://schemas.openxmlformats.org/officeDocument/2006/relationships" id="263" r:id="R973be718944f4e7c"/>
    <p:sldId xmlns:r="http://schemas.openxmlformats.org/officeDocument/2006/relationships" id="264" r:id="Rafe776fd041d47e5"/>
    <p:sldId xmlns:r="http://schemas.openxmlformats.org/officeDocument/2006/relationships" id="265" r:id="R5d1be4b3478143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afc62ab694fd7" /><Relationship Type="http://schemas.openxmlformats.org/officeDocument/2006/relationships/theme" Target="/ppt/theme/theme1.xml" Id="Rb330dce3e8734576" /><Relationship Type="http://schemas.openxmlformats.org/officeDocument/2006/relationships/notesMaster" Target="/ppt/notesMasters/notesMaster1.xml" Id="Rccec24e61fca41d7" /><Relationship Type="http://schemas.openxmlformats.org/officeDocument/2006/relationships/presProps" Target="/ppt/presProps.xml" Id="R725ad7093bd144d0" /><Relationship Type="http://schemas.openxmlformats.org/officeDocument/2006/relationships/viewProps" Target="/ppt/viewProps.xml" Id="R17f9ebc006eb434a" /><Relationship Type="http://schemas.openxmlformats.org/officeDocument/2006/relationships/tableStyles" Target="/ppt/tableStyles.xml" Id="R3ff284feea6044a3" /><Relationship Type="http://schemas.openxmlformats.org/officeDocument/2006/relationships/slide" Target="/ppt/slides/slide1.xml" Id="Rd4ea84d944d24151" /><Relationship Type="http://schemas.openxmlformats.org/officeDocument/2006/relationships/slide" Target="/ppt/slides/slide2.xml" Id="R11ec9e388e4a48b2" /><Relationship Type="http://schemas.openxmlformats.org/officeDocument/2006/relationships/slide" Target="/ppt/slides/slide3.xml" Id="R2aa2cae05e4a4a28" /><Relationship Type="http://schemas.openxmlformats.org/officeDocument/2006/relationships/slide" Target="/ppt/slides/slide4.xml" Id="R9725d1daa8d04836" /><Relationship Type="http://schemas.openxmlformats.org/officeDocument/2006/relationships/slide" Target="/ppt/slides/slide5.xml" Id="Re81bf4e3cc57419c" /><Relationship Type="http://schemas.openxmlformats.org/officeDocument/2006/relationships/slide" Target="/ppt/slides/slide6.xml" Id="Ra9a571c8fe034f1a" /><Relationship Type="http://schemas.openxmlformats.org/officeDocument/2006/relationships/slide" Target="/ppt/slides/slide7.xml" Id="R83cafc76d8c3467e" /><Relationship Type="http://schemas.openxmlformats.org/officeDocument/2006/relationships/slide" Target="/ppt/slides/slide8.xml" Id="R973be718944f4e7c" /><Relationship Type="http://schemas.openxmlformats.org/officeDocument/2006/relationships/slide" Target="/ppt/slides/slide9.xml" Id="Rafe776fd041d47e5" /><Relationship Type="http://schemas.openxmlformats.org/officeDocument/2006/relationships/slide" Target="/ppt/slides/slide10.xml" Id="R5d1be4b34781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3e3de1c0e6940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b0d1d7d64c4588" /><Relationship Type="http://schemas.openxmlformats.org/officeDocument/2006/relationships/notesMaster" Target="/ppt/notesMasters/notesMaster1.xml" Id="R59856916b1f44c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5ffc8f0846407a" /><Relationship Type="http://schemas.openxmlformats.org/officeDocument/2006/relationships/notesMaster" Target="/ppt/notesMasters/notesMaster1.xml" Id="R78d54e21834347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c6e0d7833f46ba" /><Relationship Type="http://schemas.openxmlformats.org/officeDocument/2006/relationships/notesMaster" Target="/ppt/notesMasters/notesMaster1.xml" Id="R04c9b09dc89d42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aa7129bbdd4e23" /><Relationship Type="http://schemas.openxmlformats.org/officeDocument/2006/relationships/notesMaster" Target="/ppt/notesMasters/notesMaster1.xml" Id="Rf8519cd28f41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cdb851f6a44f0b" /><Relationship Type="http://schemas.openxmlformats.org/officeDocument/2006/relationships/notesMaster" Target="/ppt/notesMasters/notesMaster1.xml" Id="R52e7c739ff0d48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74a376e8e4421b" /><Relationship Type="http://schemas.openxmlformats.org/officeDocument/2006/relationships/notesMaster" Target="/ppt/notesMasters/notesMaster1.xml" Id="Rd1f2f54030ad42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195e6684ae408d" /><Relationship Type="http://schemas.openxmlformats.org/officeDocument/2006/relationships/notesMaster" Target="/ppt/notesMasters/notesMaster1.xml" Id="Rad915dbf3a2548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977bdc46cc4b7c" /><Relationship Type="http://schemas.openxmlformats.org/officeDocument/2006/relationships/notesMaster" Target="/ppt/notesMasters/notesMaster1.xml" Id="R504f4d0a46a749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6c3a18dd194b0a" /><Relationship Type="http://schemas.openxmlformats.org/officeDocument/2006/relationships/notesMaster" Target="/ppt/notesMasters/notesMaster1.xml" Id="R806c82ec395647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7e33ed7bba45e3" /><Relationship Type="http://schemas.openxmlformats.org/officeDocument/2006/relationships/notesMaster" Target="/ppt/notesMasters/notesMaster1.xml" Id="R65aa8f6d613e40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cacb024fa405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a56849d55a4831" /><Relationship Type="http://schemas.openxmlformats.org/officeDocument/2006/relationships/slideLayout" Target="/ppt/slideLayouts/slideLayout2.xml" Id="R6115df69900e42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15df69900e42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78960f62914707" /><Relationship Type="http://schemas.openxmlformats.org/officeDocument/2006/relationships/notesSlide" Target="/ppt/notesSlides/notesSlide1.xml" Id="Rf770e7e3c44246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b8e5ea48204a89" /><Relationship Type="http://schemas.openxmlformats.org/officeDocument/2006/relationships/notesSlide" Target="/ppt/notesSlides/notesSlide2.xml" Id="R3c9a177a9ee045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f84d1e8e946bd" /><Relationship Type="http://schemas.openxmlformats.org/officeDocument/2006/relationships/notesSlide" Target="/ppt/notesSlides/notesSlide3.xml" Id="R8610dead27d044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78fef99e7f4a6b" /><Relationship Type="http://schemas.openxmlformats.org/officeDocument/2006/relationships/notesSlide" Target="/ppt/notesSlides/notesSlide4.xml" Id="Rfdaef4d83c1e45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050e3870ce4f17" /><Relationship Type="http://schemas.openxmlformats.org/officeDocument/2006/relationships/notesSlide" Target="/ppt/notesSlides/notesSlide5.xml" Id="Rd0b77b14a8fd43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b28abedac64ab4" /><Relationship Type="http://schemas.openxmlformats.org/officeDocument/2006/relationships/notesSlide" Target="/ppt/notesSlides/notesSlide6.xml" Id="R1653a81c032b47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92dbd946e4784" /><Relationship Type="http://schemas.openxmlformats.org/officeDocument/2006/relationships/notesSlide" Target="/ppt/notesSlides/notesSlide7.xml" Id="R9159ae3c34c544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543d92072141f2" /><Relationship Type="http://schemas.openxmlformats.org/officeDocument/2006/relationships/notesSlide" Target="/ppt/notesSlides/notesSlide8.xml" Id="R42e399b49c024a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8cb60964b44b1" /><Relationship Type="http://schemas.openxmlformats.org/officeDocument/2006/relationships/notesSlide" Target="/ppt/notesSlides/notesSlide9.xml" Id="R64590dbe65a24c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3fafa0785d48a0" /><Relationship Type="http://schemas.openxmlformats.org/officeDocument/2006/relationships/notesSlide" Target="/ppt/notesSlides/notesSlide10.xml" Id="Rf3b7203a515e4e8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0FE4C-C931-4CB6-8548-654646F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8E9A-2555-4697-BC20-997C2DCC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301FF-261E-4C6D-9426-372745D2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084F2-160F-4736-9BDB-B4ABC1B6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Преддипломная практика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5291D-C963-4DE3-8A2F-219F5A24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19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DE7F5"/>
                </a:solidFill>
                <a:latin typeface="Aptos"/>
                <a:ea typeface="Aptos"/>
                <a:cs typeface="Aptos"/>
              </a:rPr>
              <a:t>SDUI и открытый BDUI-стек:</a:t>
            </a:r>
          </a:p>
          <a:p xmlns:a="http://schemas.openxmlformats.org/drawingml/2006/main">
            <a:pPr algn="l">
              <a:defRPr sz="2250" b="1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DE7F5"/>
                </a:solidFill>
                <a:latin typeface="Aptos"/>
                <a:ea typeface="Aptos"/>
                <a:cs typeface="Aptos"/>
              </a:rPr>
              <a:t>от контракта к web, Android и 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5207E-780C-48C9-94BE-08467F06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7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7CC"/>
                </a:solidFill>
                <a:latin typeface="Aptos"/>
                <a:ea typeface="Aptos"/>
                <a:cs typeface="Aptos"/>
              </a:rPr>
              <a:t>Период практики: 27.04.2026 - 31.05.2026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69841-8D22-4257-99D0-A97C20D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7BE8D-6204-479A-8623-2DBB5CCE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47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B5357-C84B-4ABF-A20B-2A531298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9906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6B701-8106-40D9-B958-D9E64BFA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47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three clients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4E2F5-314E-4BC2-A753-9E0C42F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3810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24E2C-94ED-4E9C-8181-A6EE04C6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6215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Ключевой 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C9F2B-45CD-44F7-BD86-D94826C8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Реализовано полноценное приложение «Кампус» целиком на BDUI-контракте, а также прототипы нативных рендереров для Android Compose и iOS SwiftUI.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2999C-F40A-4369-B4BA-EBFB90B7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DBF30-BAEA-4124-899B-033DFE26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031B7-F8F9-42A1-B05E-5ADEF7AC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DD031-97C2-46BD-BDC4-D8F1DD11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экранов в контракте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E1281-4042-49DD-AE97-C79BA78A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B23A7-6476-471D-B2B6-E8977E3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B0C1E-8437-42C2-82DE-F3EA73E1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14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A56DC-993B-411A-8436-E881C7C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339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автотестов пройдено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8FECE-5EF6-4CC4-9D08-7E4CCCAD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434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8181B-11D9-47F6-ADBA-5DE976C0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434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B3B71-22E1-4DF5-A87B-9B0BB15A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6F861-B62D-4249-BBF1-07526F94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339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целевых клиента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FA912D-AD0E-44B6-A334-46F2142D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F7AA1-7A41-441B-8128-469DA8CB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394C6C-77FF-4159-8AFA-C5607472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5CB39-1340-432A-9EF0-E8789A5A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источник истины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E4686F-4F0F-4A9A-BB85-A25D7BC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CA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CA4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A54088-5452-4F99-8F6F-99EE73C3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CA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CA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78538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F7CBF-B806-4D18-B8C8-0FF17A9F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concept-marker">
            <a:extLst xmlns:a="http://schemas.openxmlformats.org/drawingml/2006/main">
              <a:ext uri="{FF2B5EF4-FFF2-40B4-BE49-F238E27FC236}">
                <a16:creationId xmlns:a16="http://schemas.microsoft.com/office/drawing/2014/main" id="{5AA4ECE5-1EA8-4109-8FA3-F3765C02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oncept-label">
            <a:extLst xmlns:a="http://schemas.openxmlformats.org/drawingml/2006/main">
              <a:ext uri="{FF2B5EF4-FFF2-40B4-BE49-F238E27FC236}">
                <a16:creationId xmlns:a16="http://schemas.microsoft.com/office/drawing/2014/main" id="{E0DBC914-BFF4-4364-B663-428C386D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5DF8D-224C-4BA5-A218-EE882052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SDUI переносит описание интерфейса из клиента в управляемый контракт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FE12B-565D-4234-AFD1-D2476127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Клиент остается рендерером и исполнителем действий, а структура экранов, состояние и сценарии приходят как данные.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F2A3C-2B56-4A10-B4A5-AE574C5F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F7C47-B573-4B94-9FDF-6EB44B0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209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Backend / Registry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выбирает версию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16233-BC7F-43FA-A50C-796B057E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306DC-887D-4F57-8A84-759D6FD1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2209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JSON contract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экраны, состояние, действия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D9DA2-7856-43EF-8494-A2D30984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765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D310B-8AB6-4857-9BA2-96856F43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2209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валидирует и исполняет 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B698A-2639-4EDA-992F-61BCBA4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76550"/>
            <a:ext cx="1581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A6513-D53F-4BD8-BB91-03F8F341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28950"/>
            <a:ext cx="1314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Renderer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рисует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80BE2-C8FB-49AC-B82B-534449F5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64670-A2E5-48CA-9A24-D3323E33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DFF8E-87F2-469D-B91C-BA795BB3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671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49BAB-8779-4CEF-8178-85527E5A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Что дает подход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5669A-D338-47AA-8836-95BCC4F2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90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Быстрее менять интерфейс без полной поставки клиента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Единообразно доставлять сценарии на разные платформы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Проверять контракт схемой и тестами до публикации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A15FF-7585-4F14-90EC-D5BF06BF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4F3E1-C477-4B2B-B4BF-FE22A6B1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76800"/>
            <a:ext cx="2724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369A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369A1"/>
                </a:solidFill>
                <a:latin typeface="Aptos"/>
                <a:ea typeface="Aptos"/>
                <a:cs typeface="Aptos"/>
              </a:rPr>
              <a:t>SDUI не отменяет клиентскую разработку: клиенту нужны renderer, состояние, действия, доступность и надежная деградация.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42E3BA-7644-4852-8FB4-E6612DCA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CB6B5-18FE-4901-A135-A6C3B473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26640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73F47A-D20D-4D83-933E-1E757262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bduistack-marker">
            <a:extLst xmlns:a="http://schemas.openxmlformats.org/drawingml/2006/main">
              <a:ext uri="{FF2B5EF4-FFF2-40B4-BE49-F238E27FC236}">
                <a16:creationId xmlns:a16="http://schemas.microsoft.com/office/drawing/2014/main" id="{DE62CC9F-5D38-42AA-9A03-FD93BF76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bduistack-label">
            <a:extLst xmlns:a="http://schemas.openxmlformats.org/drawingml/2006/main">
              <a:ext uri="{FF2B5EF4-FFF2-40B4-BE49-F238E27FC236}">
                <a16:creationId xmlns:a16="http://schemas.microsoft.com/office/drawing/2014/main" id="{F73505CA-BBD5-4A9B-97F6-335C5E46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BDUI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5F621-7625-4EB4-9F83-4C6B52F1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BDUI делает SDUI воспроизводимым: DSL, контракт, runtime и рендереры связаны одной схемой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A37F1-8FCF-4382-9731-8829D507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DA86C-20E3-4CF8-B698-ABD2781C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4BBC9-8861-4A3F-A183-66DEC900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Authoring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43908-F006-486D-BD82-F96D09C0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TSX DSL описывает экраны, компоненты, flow/session state и действия.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ACFA1-8B61-46E0-A939-7EF0EDCC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BAD2E-25AE-4FFA-9C60-9575BF6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11749-24EE-4B0A-8C72-079A7495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717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Canonical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AD1B2-C7EC-431F-9276-FA280011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Сборщик выпускает детерминированный contract.json с meta, navigation и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38EB4-97FA-4EE8-A3F8-F4D9FFA2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7B2BF-5D8C-4108-BC8D-70426C10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4A11F-FA8E-42AA-93CE-BD04661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717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91B79-FFA3-4EB5-A891-CB4B35D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JSON Schema и тесты проверяют контракт до попадания в приложение.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0265A-AB0B-41F6-9485-3858C00B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A7480-90FE-42FB-A0C5-8F64D7F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71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97E73-5544-436E-9740-E4F2BA36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717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Renderers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81FC5-69C7-4E94-BCB6-6F6052F7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Web, Android Compose и iOS SwiftUI читают один и тот же контракт.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0B91F-B161-4917-A926-9D961D89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33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97B2A3-D1FE-4E9C-969D-18436A3C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33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FF1C4-087F-4C54-AB0D-A52195D2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336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02ACC-06B5-4166-862B-78F29C82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Смысл практического результата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F46CBE-94BD-41FE-B447-2D7DE2BD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23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46F30-FF29-4725-9ECB-2439C368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Контракт становится переносимым артефактом, а не скрытой логикой одного клиента.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8AB07E-C073-4B61-8F2B-760278E0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86300"/>
            <a:ext cx="323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90055D-E462-4CDB-87E6-441C485A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3870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Рендерер можно развивать отдельно от сценариев и экранов приложения.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A5960-39BC-45AD-88A6-34E3E6B3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86300"/>
            <a:ext cx="323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7CA05-1E7D-4576-8A1D-24D9A9BD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3870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Проверки работают на уровне данных, поэтому ловят ошибки до запуска клиента.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C348AF-53C4-4B76-85A1-BF15594A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1C022A-78FF-4777-92E5-DA09328F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39857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41746-5E45-4D24-B4FD-0AED8F25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contractlifecycle-marker">
            <a:extLst xmlns:a="http://schemas.openxmlformats.org/drawingml/2006/main">
              <a:ext uri="{FF2B5EF4-FFF2-40B4-BE49-F238E27FC236}">
                <a16:creationId xmlns:a16="http://schemas.microsoft.com/office/drawing/2014/main" id="{6D51787D-0193-44E9-8DDE-B18956CE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ontractlifecycle-label">
            <a:extLst xmlns:a="http://schemas.openxmlformats.org/drawingml/2006/main">
              <a:ext uri="{FF2B5EF4-FFF2-40B4-BE49-F238E27FC236}">
                <a16:creationId xmlns:a16="http://schemas.microsoft.com/office/drawing/2014/main" id="{F2B63273-52C9-4921-8C07-2BCF6CB3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CONTRACT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47013-2A8E-469C-A8E5-BCAC9E83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Жизненный цикл контракта остается прозрачным от исходного DSL до ресурсов мобильных клиентов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3C6C4-17A0-4926-9E90-D2C6AEEB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5E0A7-456F-4914-A23F-DE669F8B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9B954-17F1-45E9-9EA9-74F319D9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TSX DSL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9C30E-9BC4-4DED-97EA-3703B092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E3"/>
                </a:solidFill>
                <a:latin typeface="Aptos"/>
                <a:ea typeface="Aptos"/>
                <a:cs typeface="Aptos"/>
              </a:rPr>
              <a:t>examples/ops-control/src/app.tsx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87F2F-02C7-4C47-B030-BF666343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432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DE78A-7CDB-4707-A7FC-208D1393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9900"/>
            <a:ext cx="19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79886-0EAD-4C32-9383-CA8574CF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376A4-99DE-42AA-BA49-53A12859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3D269-CC6B-418C-844E-25CA8245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37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555B2-85DD-4628-9185-527D96D1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E3"/>
                </a:solidFill>
                <a:latin typeface="Aptos"/>
                <a:ea typeface="Aptos"/>
                <a:cs typeface="Aptos"/>
              </a:rPr>
              <a:t>contract.json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C908F-9897-4EB6-9954-1D47E67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894CC-8DE0-4457-970C-DF6B197E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19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B2A87-915E-4DFB-A7CB-E3F9425F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E10DB-EB8A-44C9-AEED-50A4E73F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D4484-034D-4173-A652-6189C236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337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E9A1BD-6357-4678-A8B5-D517FF7A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337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E3"/>
                </a:solidFill>
                <a:latin typeface="Aptos"/>
                <a:ea typeface="Aptos"/>
                <a:cs typeface="Aptos"/>
              </a:rPr>
              <a:t>schema +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2556D-78A1-45E5-8044-488F573D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C86108-5DE1-47FB-8DFE-F5D88692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19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D4DC5-2C96-4D25-8B11-92873601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E1559-A350-4A6E-ADB0-DD718CEB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A9EDF-028E-4C3F-BC48-164E85B4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C56E4-B2B6-4FDA-8FB2-C3533C6C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E3"/>
                </a:solidFill>
                <a:latin typeface="Aptos"/>
                <a:ea typeface="Aptos"/>
                <a:cs typeface="Aptos"/>
              </a:rPr>
              <a:t>web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178C2-26F3-4A91-930D-E2B41440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E927A-950F-42B0-90F9-BC1C1F19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9900"/>
            <a:ext cx="19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DBED9-D468-4BEA-92E7-5251D286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15430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1DABD-176A-4A98-B9BF-9E3F6AC5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F754A9-1EDA-41DE-9E0D-B26E3C7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337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Native assets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DD3203-7E46-46A5-B125-B5A047D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337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2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2E3"/>
                </a:solidFill>
                <a:latin typeface="Aptos"/>
                <a:ea typeface="Aptos"/>
                <a:cs typeface="Aptos"/>
              </a:rPr>
              <a:t>campus.contract.json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A3FEA7-BBFD-4B42-AF53-09768D52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A4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A"/>
                </a:solidFill>
                <a:latin typeface="Aptos"/>
                <a:ea typeface="Aptos"/>
                <a:cs typeface="Aptos"/>
              </a:rPr>
              <a:t>Команды, которые связывают этапы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674ED6-DAFE-48B7-8146-3A6AE60E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npm run bdui -- build examples/ops-control/src/app.tsx -o examples/ops-control/contract.json --mode prod</a:t>
            </a:r>
          </a:p>
          <a:p xmlns:a="http://schemas.openxmlformats.org/drawingml/2006/main">
            <a:pPr algn="l">
              <a:defRPr sz="112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npm run bdui -- validate examples/ops-control/contract.json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7E564E-F764-4EA0-92FF-0C349DFC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7F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DE7F5"/>
                </a:solidFill>
                <a:latin typeface="Aptos"/>
                <a:ea typeface="Aptos"/>
                <a:cs typeface="Aptos"/>
              </a:rPr>
              <a:t>Android и iOS не получают отдельные описания экранов: в ресурсы копируется тот же canonical JSON.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9FC33F-101C-483B-8B36-40D5FD28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CA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CA4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695152-3146-4F7E-A0B8-E124482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CA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CA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96760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339C2-3149-4CBC-B9AD-10FE5B94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contractproof-marker">
            <a:extLst xmlns:a="http://schemas.openxmlformats.org/drawingml/2006/main">
              <a:ext uri="{FF2B5EF4-FFF2-40B4-BE49-F238E27FC236}">
                <a16:creationId xmlns:a16="http://schemas.microsoft.com/office/drawing/2014/main" id="{96170F09-3D27-4769-AA59-6CEC2D68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ontractproof-label">
            <a:extLst xmlns:a="http://schemas.openxmlformats.org/drawingml/2006/main">
              <a:ext uri="{FF2B5EF4-FFF2-40B4-BE49-F238E27FC236}">
                <a16:creationId xmlns:a16="http://schemas.microsoft.com/office/drawing/2014/main" id="{EAD8AE23-750C-476A-A8F0-7ABB93E1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CONTRACT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DA36B-F980-406D-ADC0-41959AF2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Контракт фиксирует совместимость, экраны и целевые рендереры в одном переносимом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C3377-5C9F-4008-8938-39166A17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191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734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45A65-EC58-4B8F-9D09-65634721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58483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"meta": {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"contractId": "campus_mobile",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"appId": "dev.bdui.campus",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"schemaVersion": "1.0.0",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"version": "0.6.0",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"features": {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"language": "ru",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"nativeRenderers": [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"android-compose",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"ios-swiftui"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],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"screens": [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"home", "schedule", "assignments",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"deanery", "pass", "settings",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"deanery-request"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]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 xmlns:a="http://schemas.openxmlformats.org/drawingml/2006/main">
            <a:pPr algn="l">
              <a:def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6B74B-E78D-4BAE-99F9-520F1874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8267E-8CBC-45FB-AABA-944E30A1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2885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369A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369A1"/>
                </a:solidFill>
                <a:latin typeface="Aptos"/>
                <a:ea typeface="Aptos"/>
                <a:cs typeface="Aptos"/>
              </a:rPr>
              <a:t>contractId + appId</a:t>
            </a:r>
          </a:p>
          <a:p xmlns:a="http://schemas.openxmlformats.org/drawingml/2006/main">
            <a:pPr algn="l">
              <a:defRPr sz="1275" b="0">
                <a:solidFill>
                  <a:srgbClr val="0369A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369A1"/>
                </a:solidFill>
                <a:latin typeface="Aptos"/>
                <a:ea typeface="Aptos"/>
                <a:cs typeface="Aptos"/>
              </a:rPr>
              <a:t>идентифицируют приложение и версию контракта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06671-9077-4A26-A9CB-D2564274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C74A4-E974-4018-A784-6A4E6919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14700"/>
            <a:ext cx="3162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6534"/>
                </a:solidFill>
                <a:latin typeface="Aptos"/>
                <a:ea typeface="Aptos"/>
                <a:cs typeface="Aptos"/>
              </a:rPr>
              <a:t>nativeRenderers</a:t>
            </a:r>
          </a:p>
          <a:p xmlns:a="http://schemas.openxmlformats.org/drawingml/2006/main">
            <a:pPr algn="l">
              <a:defRPr sz="1275" b="0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6534"/>
                </a:solidFill>
                <a:latin typeface="Aptos"/>
                <a:ea typeface="Aptos"/>
                <a:cs typeface="Aptos"/>
              </a:rPr>
              <a:t>явно показывает, что контракт рассчитан на Android Compose и iOS SwiftUI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24632-437D-4AA5-8A92-1DECDD45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9C802-D40C-422D-AF07-114F3CBF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95800"/>
            <a:ext cx="3162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screens</a:t>
            </a:r>
          </a:p>
          <a:p xmlns:a="http://schemas.openxmlformats.org/drawingml/2006/main">
            <a:pPr algn="l">
              <a:defRPr sz="1275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показывает не отдельный виджет, а полный пользовательский сценарий из 7 экранов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E48FE-A2B9-40A7-84C0-49665C76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62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Файл-источник: examples/ops-control/contract.json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BEBC7-B57F-4D9D-87D3-82ABFE8D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948F0-70D7-40AF-8FF4-13624395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91128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5F36D-9486-45AE-BFA7-8E5D8A1A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componentproof-marker">
            <a:extLst xmlns:a="http://schemas.openxmlformats.org/drawingml/2006/main">
              <a:ext uri="{FF2B5EF4-FFF2-40B4-BE49-F238E27FC236}">
                <a16:creationId xmlns:a16="http://schemas.microsoft.com/office/drawing/2014/main" id="{E3EF2160-60AF-4BD7-B28D-FD284A46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omponentproof-label">
            <a:extLst xmlns:a="http://schemas.openxmlformats.org/drawingml/2006/main">
              <a:ext uri="{FF2B5EF4-FFF2-40B4-BE49-F238E27FC236}">
                <a16:creationId xmlns:a16="http://schemas.microsoft.com/office/drawing/2014/main" id="{DD99CC4C-9438-4D3A-AAE4-C8049E67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COMPONENT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F9292-1599-41E8-ADF9-ECA8FA66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Компонент в BDUI описывает не DOM, а данные для безопасного рендера и состояния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05E7B-31BD-455F-91DC-606775EB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81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7344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447AC-5E18-4DDF-A832-FF555F1D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4673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const TomorrowSchedule = () =&gt; (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&lt;If condition={E&lt;boolean&gt;(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"flow.selectedDay == 'Завтра'"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)}&gt;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&lt;Column modifiers={card}&gt;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&lt;Text modifiers={sectionTitle}&gt;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Завтра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&lt;/Text&gt;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&lt;Text&gt;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10:00 - Дискретная математика,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аудитория 215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&lt;/Text&gt;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&lt;Text&gt;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11:45 - Физическая культура,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спортзал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&lt;/Text&gt;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&lt;Text&gt;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14:20 - Программирование,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  лаборатория 3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  &lt;/Text&gt;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  &lt;/Column&gt;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  &lt;/If&gt;</a:t>
            </a:r>
          </a:p>
          <a:p xmlns:a="http://schemas.openxmlformats.org/drawingml/2006/main">
            <a:pPr algn="l">
              <a:def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D7E3F4"/>
                </a:solidFill>
                <a:latin typeface="Courier New"/>
                <a:ea typeface="Courier New"/>
                <a:cs typeface="Courier New"/>
              </a:rPr>
              <a:t>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32558-A57C-4DCC-A913-E19455C9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Как это исполняется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6DBDF-2513-404F-A71B-A21E6422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6E82B-F5CC-4621-8920-1530A5DA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Select меняет flow.selectedDay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A6952-0DCA-47C3-9CC4-3ADF2856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1EB82-AEBF-4A9C-845A-F7F50592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 вычисляет выражение 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DFE23-25AB-4BB8-B6C0-74D29B54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04578-A160-4D0E-AD4C-CBD5BBDC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38650"/>
            <a:ext cx="3162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Renderer показывает нужную ветку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13FB4-920C-4DEF-9BB5-225D08B4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340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Проверенный сценарий: переключение на «Завтра» отображает занятия на следующий день.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9A765-FA0B-4FE0-AD06-67A7A23C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ED8EA-82BA-45E2-86F6-EF4F56BE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25820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BEA9B-1CA5-4A0A-9E12-F4791FB0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ductproof-marker">
            <a:extLst xmlns:a="http://schemas.openxmlformats.org/drawingml/2006/main">
              <a:ext uri="{FF2B5EF4-FFF2-40B4-BE49-F238E27FC236}">
                <a16:creationId xmlns:a16="http://schemas.microsoft.com/office/drawing/2014/main" id="{8E7192AB-E284-4522-BC69-167C02D9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ductproof-label">
            <a:extLst xmlns:a="http://schemas.openxmlformats.org/drawingml/2006/main">
              <a:ext uri="{FF2B5EF4-FFF2-40B4-BE49-F238E27FC236}">
                <a16:creationId xmlns:a16="http://schemas.microsoft.com/office/drawing/2014/main" id="{10B3F201-6D20-4EF4-BD00-60FB69A1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E4C94-D039-4086-9555-FE4BFD5B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Пример на BDUI: обычное приложение «Кампус», где весь интерфейс приходит из контракта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7EE1C-2745-4AE8-A084-CDFD0B13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9718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9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C659C-3720-4EE5-8F98-8671534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25908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72963-3D68-4DBE-BFC7-E9F1908F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Кампус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664F2-9E14-4038-931C-422534F5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213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Расписание, задания, деканат и цифровой пропуск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E8AF8-28E3-498E-89C2-997DC60E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2133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CEEE4-78FB-4479-BA6D-E0240D7E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9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Сегодня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09:00 Математический анализ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48F8E-2717-425E-86D1-A5E66109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CCFB9-3F63-4C92-8F0D-A285E056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7192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Расписание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43B6E-E976-401A-BDB6-093BB162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6715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664D1-E311-4849-B23F-14116697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7192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Пропуск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90D55-F694-48A0-AA36-0D988A5D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2133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F318E-0688-44CC-8068-97FDB35C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QR обновлен</a:t>
            </a:r>
          </a:p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Версия QR: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4DA89-84E1-4368-B338-EBEBD66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Состав приложения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9013C-38EA-44EB-B1C1-9EBC298D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C9979-B83A-4673-962E-F82D25E0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Главная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1EE38-28F6-4E72-8EB1-3523E8B4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75376-8D7C-4739-A54D-A02F0EFA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62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Расписание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15307-C35F-453E-B606-F992341B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3C1311-6523-4762-AD36-EC99DB75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Задания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8B584-F144-4749-86D3-CDD62B93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710D4-DCAA-4C1B-A619-0517C176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Деканат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ED5F8-AC84-4F0B-8175-757F5CE4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647B55-8435-4E8C-83A1-D003240E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Пропуск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D7EDEA-6641-4428-ABA2-9D53FDD4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480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C89E0B-296D-4977-B1F9-C71C0D7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Настройки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58AF5-A3A1-4305-A8D1-250AB5B9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4795BA-83D3-4BE3-9BEF-DA6B22BD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3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Заявка в деканат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761881-5175-4376-AF96-9AB0479E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339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Показательные сценарии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0AF0A1-C673-4376-817F-1FD43159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530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5E7394-E07A-4F23-8780-AE44B50B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10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переключение Сегодня / Завтра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35D018-A374-43A7-9C4A-B2DE865D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530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1A7DB7-0ED9-495A-9B8B-97DC47F4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10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обновление QR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3B3059-90B9-4278-BB52-FD7BC42B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530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082315-AB81-430C-8AA4-BCB590EF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102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flow-заявка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235D7-3A07-4AC2-A772-C5526EDD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A0C471-FED3-45E7-9306-6E79632F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95453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F5009E-515A-4451-ADE9-0588C6B2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nativerenderers-marker">
            <a:extLst xmlns:a="http://schemas.openxmlformats.org/drawingml/2006/main">
              <a:ext uri="{FF2B5EF4-FFF2-40B4-BE49-F238E27FC236}">
                <a16:creationId xmlns:a16="http://schemas.microsoft.com/office/drawing/2014/main" id="{2528C3A6-D65A-40D6-85C3-A6C014BE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nativerenderers-label">
            <a:extLst xmlns:a="http://schemas.openxmlformats.org/drawingml/2006/main">
              <a:ext uri="{FF2B5EF4-FFF2-40B4-BE49-F238E27FC236}">
                <a16:creationId xmlns:a16="http://schemas.microsoft.com/office/drawing/2014/main" id="{967A3836-1AE5-4A67-85A5-10F380A2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NATIVE RENDERERS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44CF8-C539-42FE-B404-EFD15C69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Android и iOS получают один contract.json, но рисуют интерфейс нативными средствами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F2A0A-E7D6-4247-8CE1-7CFEA93C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8595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1E34A-01F1-48E5-9D01-4C32CD56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38350"/>
            <a:ext cx="3448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campus.contract.json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единый источник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2938A-E90F-402F-84AD-368BDA87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86100"/>
            <a:ext cx="739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96F42-342A-4470-827B-B3E4EDC3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F8F92-C56F-435B-855A-1561B370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6E51D-A4AE-42FA-BAA4-4BA4CAE3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2590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Web runtime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preview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sandbox/web-demo/contract.json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893FF-A5E2-4F38-B592-4A761B4A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2857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DB853-0B43-4816-A6DD-ADF0CC6F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81400"/>
            <a:ext cx="2590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Android renderer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Jetpack Compose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assets/campus.contract.json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6C34D-51E6-4ED3-82EB-4DB53191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2857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242F3-5D02-4B89-92C1-8D3FC2CC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590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iOS renderer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SwiftUI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Resources/campus.contract.json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D5821-826F-4D9D-A932-5CB3AAD4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Поддержанный компонентный минимум: Column, Row, Text, Button, Input, Checkbox, Select, If, Divider.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AADED-4699-431D-BBA4-12A8C090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Поддержанный action subset: navigation, state mutation, counters, toggles, batch, conditions, toast и flow-переходы.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E4047-D170-4A2E-9752-2977F65F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F8D2A-2D6A-4530-B5EA-8EF47F56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486233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83000C-3CF1-489E-A39D-146A0149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verification-marker">
            <a:extLst xmlns:a="http://schemas.openxmlformats.org/drawingml/2006/main">
              <a:ext uri="{FF2B5EF4-FFF2-40B4-BE49-F238E27FC236}">
                <a16:creationId xmlns:a16="http://schemas.microsoft.com/office/drawing/2014/main" id="{91FA5B75-AD50-4B97-AE99-7E9489B1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verification-label">
            <a:extLst xmlns:a="http://schemas.openxmlformats.org/drawingml/2006/main">
              <a:ext uri="{FF2B5EF4-FFF2-40B4-BE49-F238E27FC236}">
                <a16:creationId xmlns:a16="http://schemas.microsoft.com/office/drawing/2014/main" id="{1BD27BBB-758E-4CD9-93B3-F646A139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8C510-10CC-4E70-B78F-0CD3E003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Проверка результата привязана к контракту, сборке и пользовательским сценариям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CB5D5-320D-4131-B166-8244386E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16136-C8B9-479B-AC61-1F6427C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582A4-CC59-4410-BDD5-659E1D5E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86E86-DF8C-4050-B2D4-F734CDAC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contract schema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AEA2B-4D34-45E2-A660-4C7DC0D2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3380E-FAF6-4FBC-B1F1-88CC7D1D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250AA-BA82-4DFF-95A9-E7A64F8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81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7E45B-B8D0-47F1-8E95-8297C108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format and typecheck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728E1-6FED-452C-BFE1-8A9A6B4D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3CF68-2100-47DC-8850-B81093FF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4644F-01D1-4830-BE23-440EC0BF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81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3ABFF-4E80-426B-85A6-B34691D1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003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unit tests 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67915-B44C-42F6-8C0C-8A662AD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B76A1-EFD1-4587-937C-6365A5FF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263AE-BB52-401C-B879-4B4839ED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42F6D-7E95-4C21-AE4B-C1DAAD37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runtime scenario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CA07C-6F38-4047-88BB-2A2C6761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F60AD-2DF6-4E1A-A699-77DD8B9B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62938-9D80-454C-8285-8F11A70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528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571D7-F912-4620-8B75-178ABBF1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npm run bdui -- validate examples/ops-control/contract.json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30289-F51E-43FE-8367-55086641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6F85C-F719-4E76-A580-E2FFDFC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60CDE-BFB0-4083-B86E-DC0731FA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Static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603709-9562-4604-9005-33C91C3A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005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format:check and typecheck cover repository-level consistency.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812CF7-F52A-4211-BEDD-9B084CCD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C3E93-A019-4FD6-A80A-8734F15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507C37-F26F-42A7-B4D7-C53C34E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528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DB8C2-C682-43BC-89A2-7DCE22F5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2038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19 test files, 120 tests passed after app and renderer changes.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182475-B72D-465B-9081-3FB3F5F3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2000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C265E4-BD3B-4706-8EBA-39049E1E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52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652260-BFA9-4D7C-93ED-EB22B99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528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AF988E-F1CF-4D3B-9AA8-5C0B0CE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1005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Verified tomorrow schedule switch and QR refresh behavior in the app.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9A366B-219B-46B1-9C06-778EF121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7293D4-E6DB-4397-AF58-D28F80EB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83424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70F842-B428-4BF7-8F48-E7E48757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outcome-marker">
            <a:extLst xmlns:a="http://schemas.openxmlformats.org/drawingml/2006/main">
              <a:ext uri="{FF2B5EF4-FFF2-40B4-BE49-F238E27FC236}">
                <a16:creationId xmlns:a16="http://schemas.microsoft.com/office/drawing/2014/main" id="{8657F30E-2222-407C-B7EF-3C710E46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outcome-label">
            <a:extLst xmlns:a="http://schemas.openxmlformats.org/drawingml/2006/main">
              <a:ext uri="{FF2B5EF4-FFF2-40B4-BE49-F238E27FC236}">
                <a16:creationId xmlns:a16="http://schemas.microsoft.com/office/drawing/2014/main" id="{BFF104AD-AA4A-425E-A11F-81B00E2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99791-3A00-4510-8845-879CA79C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04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 практики: SDUI-концепция доведена до демонстрируемого BDUI-приложения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C2A93-5F6C-4FED-8401-90B0107A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Что было сделано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4DF24-0EBB-4EF1-A4E8-B90D0E95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AF82C-7184-4A1E-9D8E-F040A3BB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7E3F4"/>
                </a:solidFill>
                <a:latin typeface="Aptos"/>
                <a:ea typeface="Aptos"/>
                <a:cs typeface="Aptos"/>
              </a:rPr>
              <a:t>Полное приложение «Кампус» на BDUI-контракте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46A4C-69E5-41D7-BC7D-FFACC1BA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2B5F-00AF-4EB7-A2FD-E9F03BFE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7E3F4"/>
                </a:solidFill>
                <a:latin typeface="Aptos"/>
                <a:ea typeface="Aptos"/>
                <a:cs typeface="Aptos"/>
              </a:rPr>
              <a:t>Прототипы нативных рендереров Android Compose и iOS SwiftUI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0451A-8716-4C6C-9A73-451A6DD9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DB15D-8B6C-47BF-B7AA-6A3560C1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7E3F4"/>
                </a:solidFill>
                <a:latin typeface="Aptos"/>
                <a:ea typeface="Aptos"/>
                <a:cs typeface="Aptos"/>
              </a:rPr>
              <a:t>Проверяемый pipeline: build, validate, typecheck,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0AD77-693C-4709-880F-890ADE93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Как защищать идею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86BD8-B2E8-4B57-9C2D-E302B01A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1. SDUI уменьшает зависимость UI-изменений от релиза клиента.</a:t>
            </a:r>
          </a:p>
          <a:p xmlns:a="http://schemas.openxmlformats.org/drawingml/2006/main">
            <a:pPr algn="l">
              <a:defRPr sz="150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2. BDUI делает это открытым и проверяемым через контракт.</a:t>
            </a:r>
          </a:p>
          <a:p xmlns:a="http://schemas.openxmlformats.org/drawingml/2006/main">
            <a:pPr algn="l">
              <a:defRPr sz="150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3. Реальный пример показывает переносимость: один JSON, несколько клиентов.</a:t>
            </a:r>
          </a:p>
          <a:p xmlns:a="http://schemas.openxmlformats.org/drawingml/2006/main">
            <a:pPr algn="l">
              <a:defRPr sz="1500" b="0">
                <a:solidFill>
                  <a:srgbClr val="D7E3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3F4"/>
                </a:solidFill>
                <a:latin typeface="Aptos"/>
                <a:ea typeface="Aptos"/>
                <a:cs typeface="Aptos"/>
              </a:rPr>
              <a:t>4. Следующий шаг - расширять компонентный набор и автоматизировать визуальные тесты.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8E930-37FC-4459-B2A8-60D3ED2C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482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8DFE6-5746-4B05-923D-B6DC1A1C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9590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2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2FF"/>
                </a:solidFill>
                <a:latin typeface="Aptos"/>
                <a:ea typeface="Aptos"/>
                <a:cs typeface="Aptos"/>
              </a:rPr>
              <a:t>Главная мысль: в SDUI важен не сам JSON, а контролируемый путь от продукта к безопасному нативному интерфейсу.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1BAD6-9BB5-4554-BE35-94EE1879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CA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B8CA4"/>
                </a:solidFill>
                <a:latin typeface="Aptos"/>
                <a:ea typeface="Aptos"/>
                <a:cs typeface="Aptos"/>
              </a:rPr>
              <a:t>SDUI / BDUI - преддипломная практика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A9C44-34CF-46CE-A6A9-3A1F0D4B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817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B8CA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B8CA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97231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2026-06-01T05:18:41.1700000Z</dcterms:created>
  <dcterms:modified xsi:type="dcterms:W3CDTF">2026-06-01T05:18:41.1700000Z</dcterms:modified>
</coreProperties>
</file>